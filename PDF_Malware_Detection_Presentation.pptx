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961AD1-7D24-4839-917D-37C03910D8E3}">
  <a:tblStyle styleId="{80961AD1-7D24-4839-917D-37C03910D8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6112ea59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g3f6112ea59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f6112ea59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6112ea598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f6112ea598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6112ea598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112ea598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6112ea598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6112ea598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617a301cc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617a301cc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617a301cc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61c132a6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61c132a6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61c132a6b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61c132a6b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61c132a6b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61c132a6b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61c132a6b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61c132a6b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61c132a6b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61c132a6b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61c132a6b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61c132a6b_1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61c132a6b_1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61c132a6b_1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f61c132a6b_1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6151c8b16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f6151c8b1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6151c8b16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863840" y="0"/>
            <a:ext cx="4297800" cy="6858000"/>
          </a:xfrm>
          <a:prstGeom prst="rect">
            <a:avLst/>
          </a:prstGeom>
          <a:solidFill>
            <a:srgbClr val="13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_coral.png" id="17" name="Google Shape;17;p3"/>
          <p:cNvPicPr preferRelativeResize="0"/>
          <p:nvPr/>
        </p:nvPicPr>
        <p:blipFill rotWithShape="1">
          <a:blip r:embed="rId3">
            <a:alphaModFix amt="92000"/>
          </a:blip>
          <a:srcRect b="0" l="0" r="0" t="0"/>
          <a:stretch/>
        </p:blipFill>
        <p:spPr>
          <a:xfrm>
            <a:off x="8732520" y="237744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640080" y="10515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CSCI 4353</a:t>
            </a: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CYBER SECURITY &amp; ETHICAL HACKING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75" y="1545813"/>
            <a:ext cx="7143600" cy="15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Machine Learning Approaches in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PDF Malware Detection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5830" y="2917495"/>
            <a:ext cx="6858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An Empirical Study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685818" y="3474715"/>
            <a:ext cx="29262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640080" y="371574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Group 06</a:t>
            </a:r>
            <a:b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Sarah Tahsin  ·  220083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Novera Ahmed Nirbachita  ·  220113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Nazia Zarin Riti  ·  220018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80" y="5990050"/>
            <a:ext cx="694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Submitted to Professor Akhtari Zameel  |  Department of Computer Science, Asian University for Women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15302" l="29776" r="32643" t="9317"/>
          <a:stretch/>
        </p:blipFill>
        <p:spPr>
          <a:xfrm>
            <a:off x="8564825" y="1430825"/>
            <a:ext cx="3059000" cy="4087825"/>
          </a:xfrm>
          <a:prstGeom prst="rect">
            <a:avLst/>
          </a:prstGeom>
          <a:solidFill>
            <a:srgbClr val="132A4E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51390" y="5593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Table of Contents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28575" y="1623025"/>
            <a:ext cx="2971800" cy="133050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28580" y="194537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6550" lvl="0" marL="45720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Cambria"/>
              <a:buAutoNum type="arabicPeriod"/>
            </a:pPr>
            <a:r>
              <a:rPr b="1" lang="en-US" sz="17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Problem Definition &amp; Motivation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891300" y="1623025"/>
            <a:ext cx="3472500" cy="1330500"/>
          </a:xfrm>
          <a:prstGeom prst="roundRect">
            <a:avLst>
              <a:gd fmla="val 3038" name="adj"/>
            </a:avLst>
          </a:prstGeom>
          <a:solidFill>
            <a:srgbClr val="0B1F3A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411350" y="1945375"/>
            <a:ext cx="257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Literature</a:t>
            </a: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Review &amp; Research Gap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194225" y="1623025"/>
            <a:ext cx="3612000" cy="129300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514320" y="194537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3. Methodology &amp; System Design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61288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28575" y="3478875"/>
            <a:ext cx="3031800" cy="1330500"/>
          </a:xfrm>
          <a:prstGeom prst="roundRect">
            <a:avLst>
              <a:gd fmla="val 3038" name="adj"/>
            </a:avLst>
          </a:prstGeom>
          <a:solidFill>
            <a:srgbClr val="0B1F3A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011450" y="3433600"/>
            <a:ext cx="3298800" cy="133050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194225" y="3433600"/>
            <a:ext cx="3612000" cy="1330500"/>
          </a:xfrm>
          <a:prstGeom prst="roundRect">
            <a:avLst>
              <a:gd fmla="val 3038" name="adj"/>
            </a:avLst>
          </a:prstGeom>
          <a:solidFill>
            <a:srgbClr val="0B1F3A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241405" y="380122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5. Experiment Result &amp; Analysis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8525" y="3801225"/>
            <a:ext cx="257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 Technical Implementation &amp; Demonstration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808725" y="3707225"/>
            <a:ext cx="257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6. Conclusion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98640" y="2272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Problem Definition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921500" y="2029600"/>
            <a:ext cx="9834900" cy="68970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PDF malware is malicious code or exploit logic hidden inside what looks like a normal PDF document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5" name="Google Shape;55;p5"/>
          <p:cNvGrpSpPr/>
          <p:nvPr/>
        </p:nvGrpSpPr>
        <p:grpSpPr>
          <a:xfrm>
            <a:off x="4030250" y="969661"/>
            <a:ext cx="3472500" cy="1059943"/>
            <a:chOff x="3888425" y="1492175"/>
            <a:chExt cx="3472500" cy="1343400"/>
          </a:xfrm>
        </p:grpSpPr>
        <p:sp>
          <p:nvSpPr>
            <p:cNvPr id="56" name="Google Shape;56;p5"/>
            <p:cNvSpPr/>
            <p:nvPr/>
          </p:nvSpPr>
          <p:spPr>
            <a:xfrm>
              <a:off x="3888425" y="1492175"/>
              <a:ext cx="3472500" cy="689700"/>
            </a:xfrm>
            <a:prstGeom prst="roundRect">
              <a:avLst>
                <a:gd fmla="val 3038" name="adj"/>
              </a:avLst>
            </a:prstGeom>
            <a:solidFill>
              <a:srgbClr val="0B1F3A"/>
            </a:solidFill>
            <a:ln cap="flat" cmpd="sng" w="12700">
              <a:solidFill>
                <a:srgbClr val="CADC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 is PDF Malware?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7" name="Google Shape;57;p5"/>
            <p:cNvCxnSpPr>
              <a:stCxn id="56" idx="2"/>
              <a:endCxn id="56" idx="2"/>
            </p:cNvCxnSpPr>
            <p:nvPr/>
          </p:nvCxnSpPr>
          <p:spPr>
            <a:xfrm>
              <a:off x="5624675" y="218187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" name="Google Shape;58;p5"/>
            <p:cNvCxnSpPr>
              <a:stCxn id="56" idx="2"/>
            </p:cNvCxnSpPr>
            <p:nvPr/>
          </p:nvCxnSpPr>
          <p:spPr>
            <a:xfrm>
              <a:off x="5624675" y="2181875"/>
              <a:ext cx="3600" cy="653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59" name="Google Shape;59;p5"/>
          <p:cNvCxnSpPr/>
          <p:nvPr/>
        </p:nvCxnSpPr>
        <p:spPr>
          <a:xfrm>
            <a:off x="5766350" y="2719300"/>
            <a:ext cx="0" cy="58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0" name="Google Shape;60;p5"/>
          <p:cNvGrpSpPr/>
          <p:nvPr/>
        </p:nvGrpSpPr>
        <p:grpSpPr>
          <a:xfrm>
            <a:off x="699975" y="3223315"/>
            <a:ext cx="9556600" cy="1961885"/>
            <a:chOff x="699975" y="3223315"/>
            <a:chExt cx="9556600" cy="1961885"/>
          </a:xfrm>
        </p:grpSpPr>
        <p:grpSp>
          <p:nvGrpSpPr>
            <p:cNvPr id="61" name="Google Shape;61;p5"/>
            <p:cNvGrpSpPr/>
            <p:nvPr/>
          </p:nvGrpSpPr>
          <p:grpSpPr>
            <a:xfrm>
              <a:off x="4030100" y="3223315"/>
              <a:ext cx="3472500" cy="958785"/>
              <a:chOff x="3888425" y="1492175"/>
              <a:chExt cx="3472500" cy="1343400"/>
            </a:xfrm>
          </p:grpSpPr>
          <p:sp>
            <p:nvSpPr>
              <p:cNvPr id="62" name="Google Shape;62;p5"/>
              <p:cNvSpPr/>
              <p:nvPr/>
            </p:nvSpPr>
            <p:spPr>
              <a:xfrm>
                <a:off x="3888425" y="1492175"/>
                <a:ext cx="3472500" cy="689700"/>
              </a:xfrm>
              <a:prstGeom prst="roundRect">
                <a:avLst>
                  <a:gd fmla="val 3038" name="adj"/>
                </a:avLst>
              </a:prstGeom>
              <a:solidFill>
                <a:srgbClr val="0B1F3A"/>
              </a:solidFill>
              <a:ln cap="flat" cmpd="sng" w="12700">
                <a:solidFill>
                  <a:srgbClr val="CADC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How PDF Malware attacks?</a:t>
                </a:r>
                <a:endParaRPr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63" name="Google Shape;63;p5"/>
              <p:cNvCxnSpPr>
                <a:stCxn id="62" idx="2"/>
                <a:endCxn id="62" idx="2"/>
              </p:cNvCxnSpPr>
              <p:nvPr/>
            </p:nvCxnSpPr>
            <p:spPr>
              <a:xfrm>
                <a:off x="5624675" y="2181875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4" name="Google Shape;64;p5"/>
              <p:cNvCxnSpPr>
                <a:stCxn id="62" idx="2"/>
              </p:cNvCxnSpPr>
              <p:nvPr/>
            </p:nvCxnSpPr>
            <p:spPr>
              <a:xfrm>
                <a:off x="5624675" y="2181875"/>
                <a:ext cx="3600" cy="653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5" name="Google Shape;65;p5"/>
            <p:cNvSpPr/>
            <p:nvPr/>
          </p:nvSpPr>
          <p:spPr>
            <a:xfrm>
              <a:off x="699975" y="4181975"/>
              <a:ext cx="2971800" cy="958800"/>
            </a:xfrm>
            <a:prstGeom prst="roundRect">
              <a:avLst>
                <a:gd fmla="val 3038" name="adj"/>
              </a:avLst>
            </a:prstGeom>
            <a:solidFill>
              <a:srgbClr val="F3F7FE"/>
            </a:solidFill>
            <a:ln cap="flat" cmpd="sng" w="12700">
              <a:solidFill>
                <a:srgbClr val="CADC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16213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Cross-platform flexibility and universal trust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4211075" y="4181975"/>
              <a:ext cx="2971800" cy="958800"/>
            </a:xfrm>
            <a:prstGeom prst="roundRect">
              <a:avLst>
                <a:gd fmla="val 3038" name="adj"/>
              </a:avLst>
            </a:prstGeom>
            <a:solidFill>
              <a:srgbClr val="F3F7FE"/>
            </a:solidFill>
            <a:ln cap="flat" cmpd="sng" w="12700">
              <a:solidFill>
                <a:srgbClr val="CADC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16213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Malicious code (JavaScript,   embedded files, launch actions) hides easily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7572175" y="4226400"/>
              <a:ext cx="2684400" cy="958800"/>
            </a:xfrm>
            <a:prstGeom prst="roundRect">
              <a:avLst>
                <a:gd fmla="val 3038" name="adj"/>
              </a:avLst>
            </a:prstGeom>
            <a:solidFill>
              <a:srgbClr val="F3F7FE"/>
            </a:solidFill>
            <a:ln cap="flat" cmpd="sng" w="12700">
              <a:solidFill>
                <a:srgbClr val="CADC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16213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</a:t>
              </a:r>
              <a:r>
                <a:rPr lang="en-US" sz="1500">
                  <a:solidFill>
                    <a:srgbClr val="16213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Signature-based            antivirus   only recognizes            previously seen malware 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8" name="Google Shape;68;p5"/>
            <p:cNvCxnSpPr>
              <a:stCxn id="62" idx="1"/>
              <a:endCxn id="65" idx="0"/>
            </p:cNvCxnSpPr>
            <p:nvPr/>
          </p:nvCxnSpPr>
          <p:spPr>
            <a:xfrm flipH="1">
              <a:off x="2186000" y="3469435"/>
              <a:ext cx="1844100" cy="71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9" name="Google Shape;69;p5"/>
            <p:cNvCxnSpPr>
              <a:stCxn id="62" idx="3"/>
              <a:endCxn id="67" idx="0"/>
            </p:cNvCxnSpPr>
            <p:nvPr/>
          </p:nvCxnSpPr>
          <p:spPr>
            <a:xfrm>
              <a:off x="7502600" y="3469435"/>
              <a:ext cx="1411800" cy="756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54864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52540" y="29259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Motivation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161288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921500" y="2029600"/>
            <a:ext cx="9834900" cy="68970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ML learns the underlying 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behind malicious behavior, so it can catch new and disguised threats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0" name="Google Shape;80;p6"/>
          <p:cNvGrpSpPr/>
          <p:nvPr/>
        </p:nvGrpSpPr>
        <p:grpSpPr>
          <a:xfrm>
            <a:off x="4030250" y="969661"/>
            <a:ext cx="3472500" cy="1059943"/>
            <a:chOff x="3888425" y="1492175"/>
            <a:chExt cx="3472500" cy="1343400"/>
          </a:xfrm>
        </p:grpSpPr>
        <p:sp>
          <p:nvSpPr>
            <p:cNvPr id="81" name="Google Shape;81;p6"/>
            <p:cNvSpPr/>
            <p:nvPr/>
          </p:nvSpPr>
          <p:spPr>
            <a:xfrm>
              <a:off x="3888425" y="1492175"/>
              <a:ext cx="3472500" cy="689700"/>
            </a:xfrm>
            <a:prstGeom prst="roundRect">
              <a:avLst>
                <a:gd fmla="val 3038" name="adj"/>
              </a:avLst>
            </a:prstGeom>
            <a:solidFill>
              <a:srgbClr val="0B1F3A"/>
            </a:solidFill>
            <a:ln cap="flat" cmpd="sng" w="12700">
              <a:solidFill>
                <a:srgbClr val="CADC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Machine Learning Approach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2" name="Google Shape;82;p6"/>
            <p:cNvCxnSpPr>
              <a:stCxn id="81" idx="2"/>
              <a:endCxn id="81" idx="2"/>
            </p:cNvCxnSpPr>
            <p:nvPr/>
          </p:nvCxnSpPr>
          <p:spPr>
            <a:xfrm>
              <a:off x="5624675" y="218187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3" name="Google Shape;83;p6"/>
            <p:cNvCxnSpPr>
              <a:stCxn id="81" idx="2"/>
            </p:cNvCxnSpPr>
            <p:nvPr/>
          </p:nvCxnSpPr>
          <p:spPr>
            <a:xfrm>
              <a:off x="5624675" y="2181875"/>
              <a:ext cx="3600" cy="653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4" name="Google Shape;84;p6"/>
          <p:cNvSpPr/>
          <p:nvPr/>
        </p:nvSpPr>
        <p:spPr>
          <a:xfrm>
            <a:off x="1149950" y="3405100"/>
            <a:ext cx="2971800" cy="130470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         Structural</a:t>
            </a:r>
            <a:endParaRPr sz="150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Internal characteristics of a PDF file that describe how it is organized rather than what it contains </a:t>
            </a:r>
            <a:br>
              <a:rPr lang="en-US" sz="13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280600" y="3453475"/>
            <a:ext cx="2971800" cy="124110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etadata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Metadata is information describing the document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502750" y="3453475"/>
            <a:ext cx="2684400" cy="130470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1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1500">
              <a:solidFill>
                <a:srgbClr val="1621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1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B</a:t>
            </a:r>
            <a:r>
              <a:rPr lang="en-US" sz="1500">
                <a:solidFill>
                  <a:srgbClr val="1621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ehavioral patterns</a:t>
            </a:r>
            <a:endParaRPr sz="1500">
              <a:solidFill>
                <a:srgbClr val="1621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621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actions performed when the PDF is opened or executed</a:t>
            </a:r>
            <a:endParaRPr>
              <a:solidFill>
                <a:srgbClr val="1621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7" name="Google Shape;87;p6"/>
          <p:cNvCxnSpPr/>
          <p:nvPr/>
        </p:nvCxnSpPr>
        <p:spPr>
          <a:xfrm flipH="1">
            <a:off x="2499750" y="2696250"/>
            <a:ext cx="10800" cy="68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6"/>
          <p:cNvCxnSpPr/>
          <p:nvPr/>
        </p:nvCxnSpPr>
        <p:spPr>
          <a:xfrm flipH="1">
            <a:off x="8769575" y="2719300"/>
            <a:ext cx="10800" cy="68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6"/>
          <p:cNvCxnSpPr/>
          <p:nvPr/>
        </p:nvCxnSpPr>
        <p:spPr>
          <a:xfrm flipH="1">
            <a:off x="5761100" y="2719300"/>
            <a:ext cx="10800" cy="68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PROBLEM &amp; MOTIVATION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Research Questions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1691640"/>
            <a:ext cx="3611880" cy="393192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ok_navy.png"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216712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/>
          <p:nvPr/>
        </p:nvSpPr>
        <p:spPr>
          <a:xfrm>
            <a:off x="868680" y="283464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868680" y="320040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Landscape of Techniques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68680" y="3808465"/>
            <a:ext cx="2971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What machine learning and deep learning techniques have been used in recent literature for PDF malware detection? 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480560" y="1691640"/>
            <a:ext cx="3611880" cy="3931920"/>
          </a:xfrm>
          <a:prstGeom prst="roundRect">
            <a:avLst>
              <a:gd fmla="val 3038" name="adj"/>
            </a:avLst>
          </a:prstGeom>
          <a:solidFill>
            <a:srgbClr val="0B1F3A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4800600" y="2011680"/>
            <a:ext cx="685800" cy="685800"/>
          </a:xfrm>
          <a:prstGeom prst="ellipse">
            <a:avLst/>
          </a:prstGeom>
          <a:solidFill>
            <a:srgbClr val="1E3A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end_coral.png" id="105" name="Google Shape;1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216712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4800600" y="283464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800600" y="320040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ML vs. Signature-Based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800600" y="3977640"/>
            <a:ext cx="2971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How do ML-based PDF malware detection techniques compare with traditional signature-based methods in terms of detection accuracy, computational performance, and resistance to evasive attacks?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412480" y="1691640"/>
            <a:ext cx="3611880" cy="3931920"/>
          </a:xfrm>
          <a:prstGeom prst="roundRect">
            <a:avLst>
              <a:gd fmla="val 3038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732520" y="20116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arget_navy.png" id="111" name="Google Shape;1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87968" y="216712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8732520" y="283464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732520" y="320040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Consistency Across Models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732520" y="3977640"/>
            <a:ext cx="2971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5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Using a single dataset, how do different machine learning models compare in terms of classification performance, and how consistently do these models rank the most influential features for PDF malware detection?</a:t>
            </a:r>
            <a:endParaRPr b="1" sz="125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Literature Review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8"/>
          <p:cNvGrpSpPr/>
          <p:nvPr/>
        </p:nvGrpSpPr>
        <p:grpSpPr>
          <a:xfrm>
            <a:off x="548674" y="1272637"/>
            <a:ext cx="4545214" cy="1269244"/>
            <a:chOff x="548640" y="1554480"/>
            <a:chExt cx="11064300" cy="1417200"/>
          </a:xfrm>
        </p:grpSpPr>
        <p:sp>
          <p:nvSpPr>
            <p:cNvPr id="124" name="Google Shape;124;p8"/>
            <p:cNvSpPr/>
            <p:nvPr/>
          </p:nvSpPr>
          <p:spPr>
            <a:xfrm>
              <a:off x="548640" y="1554480"/>
              <a:ext cx="11064300" cy="1417200"/>
            </a:xfrm>
            <a:prstGeom prst="roundRect">
              <a:avLst>
                <a:gd fmla="val 6452" name="adj"/>
              </a:avLst>
            </a:prstGeom>
            <a:solidFill>
              <a:srgbClr val="F3F7FE"/>
            </a:solidFill>
            <a:ln cap="flat" cmpd="sng" w="12700">
              <a:solidFill>
                <a:srgbClr val="CADC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1071104" y="1691632"/>
              <a:ext cx="630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B1F3A"/>
                </a:buClr>
                <a:buSzPts val="1600"/>
                <a:buFont typeface="Cambria"/>
                <a:buNone/>
              </a:pPr>
              <a:r>
                <a:rPr b="1" i="0" lang="en-US" sz="1600" u="none" cap="none" strike="noStrike">
                  <a:solidFill>
                    <a:srgbClr val="0B1F3A"/>
                  </a:solidFill>
                  <a:latin typeface="Cambria"/>
                  <a:ea typeface="Cambria"/>
                  <a:cs typeface="Cambria"/>
                  <a:sym typeface="Cambria"/>
                </a:rPr>
                <a:t>Classical Ensemble &amp; Tree-Based Models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1201818" y="2148845"/>
              <a:ext cx="100377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213E"/>
                </a:buClr>
                <a:buSzPts val="1150"/>
                <a:buFont typeface="Calibri"/>
                <a:buNone/>
              </a:pPr>
              <a:r>
                <a:rPr b="0" i="0" lang="en-US" sz="1150" u="none" cap="none" strike="noStrike">
                  <a:solidFill>
                    <a:srgbClr val="16213E"/>
                  </a:solidFill>
                  <a:latin typeface="Calibri"/>
                  <a:ea typeface="Calibri"/>
                  <a:cs typeface="Calibri"/>
                  <a:sym typeface="Calibri"/>
                </a:rPr>
                <a:t>SVM, Naive Bayes, KNN, Random Forest, XGBoost, AdaBoost, LightGBM, </a:t>
              </a:r>
              <a:r>
                <a:rPr lang="en-US" sz="1150">
                  <a:solidFill>
                    <a:srgbClr val="16213E"/>
                  </a:solidFill>
                  <a:latin typeface="Calibri"/>
                  <a:ea typeface="Calibri"/>
                  <a:cs typeface="Calibri"/>
                  <a:sym typeface="Calibri"/>
                </a:rPr>
                <a:t>and CatBoost—the</a:t>
              </a:r>
              <a:r>
                <a:rPr b="0" i="0" lang="en-US" sz="1150" u="none" cap="none" strike="noStrike">
                  <a:solidFill>
                    <a:srgbClr val="16213E"/>
                  </a:solidFill>
                  <a:latin typeface="Calibri"/>
                  <a:ea typeface="Calibri"/>
                  <a:cs typeface="Calibri"/>
                  <a:sym typeface="Calibri"/>
                </a:rPr>
                <a:t> dominant </a:t>
              </a:r>
              <a:r>
                <a:rPr lang="en-US" sz="1150">
                  <a:solidFill>
                    <a:srgbClr val="16213E"/>
                  </a:solidFill>
                  <a:latin typeface="Calibri"/>
                  <a:ea typeface="Calibri"/>
                  <a:cs typeface="Calibri"/>
                  <a:sym typeface="Calibri"/>
                </a:rPr>
                <a:t>approaches,</a:t>
              </a:r>
              <a:r>
                <a:rPr b="0" i="0" lang="en-US" sz="1150" u="none" cap="none" strike="noStrike">
                  <a:solidFill>
                    <a:srgbClr val="16213E"/>
                  </a:solidFill>
                  <a:latin typeface="Calibri"/>
                  <a:ea typeface="Calibri"/>
                  <a:cs typeface="Calibri"/>
                  <a:sym typeface="Calibri"/>
                </a:rPr>
                <a:t> mostly benchmarked on CIC-Evasive-PDFMal2022.</a:t>
              </a:r>
              <a:endParaRPr b="0" i="0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2217518" y="2733172"/>
              <a:ext cx="93954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B6B8C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5B6B8C"/>
                  </a:solidFill>
                  <a:latin typeface="Calibri"/>
                  <a:ea typeface="Calibri"/>
                  <a:cs typeface="Calibri"/>
                  <a:sym typeface="Calibri"/>
                </a:rPr>
                <a:t>[1][2][3][5][6][8][9]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8"/>
          <p:cNvGrpSpPr/>
          <p:nvPr/>
        </p:nvGrpSpPr>
        <p:grpSpPr>
          <a:xfrm>
            <a:off x="548699" y="2671510"/>
            <a:ext cx="4545190" cy="1458281"/>
            <a:chOff x="548640" y="3154680"/>
            <a:chExt cx="11064240" cy="1417320"/>
          </a:xfrm>
        </p:grpSpPr>
        <p:sp>
          <p:nvSpPr>
            <p:cNvPr id="129" name="Google Shape;129;p8"/>
            <p:cNvSpPr/>
            <p:nvPr/>
          </p:nvSpPr>
          <p:spPr>
            <a:xfrm>
              <a:off x="548640" y="3154680"/>
              <a:ext cx="11064240" cy="1417320"/>
            </a:xfrm>
            <a:prstGeom prst="roundRect">
              <a:avLst>
                <a:gd fmla="val 6452" name="adj"/>
              </a:avLst>
            </a:prstGeom>
            <a:solidFill>
              <a:srgbClr val="F3F7FE"/>
            </a:solidFill>
            <a:ln cap="flat" cmpd="sng" w="12700">
              <a:solidFill>
                <a:srgbClr val="CADC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1136459" y="3291841"/>
              <a:ext cx="832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B1F3A"/>
                </a:buClr>
                <a:buSzPts val="1600"/>
                <a:buFont typeface="Cambria"/>
                <a:buNone/>
              </a:pPr>
              <a:r>
                <a:rPr b="1" lang="en-US" sz="1600">
                  <a:solidFill>
                    <a:srgbClr val="0B1F3A"/>
                  </a:solidFill>
                  <a:latin typeface="Cambria"/>
                  <a:ea typeface="Cambria"/>
                  <a:cs typeface="Cambria"/>
                  <a:sym typeface="Cambria"/>
                </a:rPr>
                <a:t>Explainability-Focused</a:t>
              </a:r>
              <a:r>
                <a:rPr b="1" i="0" lang="en-US" sz="1600" u="none" cap="none" strike="noStrike">
                  <a:solidFill>
                    <a:srgbClr val="0B1F3A"/>
                  </a:solidFill>
                  <a:latin typeface="Cambria"/>
                  <a:ea typeface="Cambria"/>
                  <a:cs typeface="Cambria"/>
                  <a:sym typeface="Cambria"/>
                </a:rPr>
                <a:t> (XAI)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1432134" y="3749031"/>
              <a:ext cx="72423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213E"/>
                </a:buClr>
                <a:buSzPts val="1150"/>
                <a:buFont typeface="Calibri"/>
                <a:buNone/>
              </a:pPr>
              <a:r>
                <a:rPr b="0" i="0" lang="en-US" sz="1150" u="none" cap="none" strike="noStrike">
                  <a:solidFill>
                    <a:srgbClr val="16213E"/>
                  </a:solidFill>
                  <a:latin typeface="Calibri"/>
                  <a:ea typeface="Calibri"/>
                  <a:cs typeface="Calibri"/>
                  <a:sym typeface="Calibri"/>
                </a:rPr>
                <a:t>SHAP and LIME layered on top of classifiers to make detections interpretable to security analysts — typically applied only to the single best model.</a:t>
              </a:r>
              <a:endParaRPr b="0" i="0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5834617" y="4259462"/>
              <a:ext cx="4408800" cy="2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B6B8C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5B6B8C"/>
                  </a:solidFill>
                  <a:latin typeface="Calibri"/>
                  <a:ea typeface="Calibri"/>
                  <a:cs typeface="Calibri"/>
                  <a:sym typeface="Calibri"/>
                </a:rPr>
                <a:t>[4][5][11]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8"/>
          <p:cNvGrpSpPr/>
          <p:nvPr/>
        </p:nvGrpSpPr>
        <p:grpSpPr>
          <a:xfrm>
            <a:off x="548800" y="4302465"/>
            <a:ext cx="4794409" cy="1990347"/>
            <a:chOff x="548640" y="4754880"/>
            <a:chExt cx="11547228" cy="1434174"/>
          </a:xfrm>
        </p:grpSpPr>
        <p:sp>
          <p:nvSpPr>
            <p:cNvPr id="134" name="Google Shape;134;p8"/>
            <p:cNvSpPr/>
            <p:nvPr/>
          </p:nvSpPr>
          <p:spPr>
            <a:xfrm>
              <a:off x="548640" y="4754880"/>
              <a:ext cx="11064240" cy="1417320"/>
            </a:xfrm>
            <a:prstGeom prst="roundRect">
              <a:avLst>
                <a:gd fmla="val 6452" name="adj"/>
              </a:avLst>
            </a:prstGeom>
            <a:solidFill>
              <a:srgbClr val="F3F7FE"/>
            </a:solidFill>
            <a:ln cap="flat" cmpd="sng" w="11075">
              <a:solidFill>
                <a:srgbClr val="CADC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775" lIns="79775" spcFirstLastPara="1" rIns="79775" wrap="square" tIns="79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1306736" y="4892055"/>
              <a:ext cx="630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875" lIns="79775" spcFirstLastPara="1" rIns="79775" wrap="square" tIns="39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B1F3A"/>
                </a:buClr>
                <a:buSzPts val="1396"/>
                <a:buFont typeface="Cambria"/>
                <a:buNone/>
              </a:pPr>
              <a:r>
                <a:rPr b="1" i="0" lang="en-US" sz="1396" u="none" cap="none" strike="noStrike">
                  <a:solidFill>
                    <a:srgbClr val="0B1F3A"/>
                  </a:solidFill>
                  <a:latin typeface="Cambria"/>
                  <a:ea typeface="Cambria"/>
                  <a:cs typeface="Cambria"/>
                  <a:sym typeface="Cambria"/>
                </a:rPr>
                <a:t>Evasion, Adversarial Robustness &amp; Representation</a:t>
              </a:r>
              <a:endParaRPr b="0" i="0" sz="13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1545367" y="5349240"/>
              <a:ext cx="64008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875" lIns="79775" spcFirstLastPara="1" rIns="79775" wrap="square" tIns="39875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6213E"/>
                </a:buClr>
                <a:buSzPts val="1003"/>
                <a:buFont typeface="Calibri"/>
                <a:buNone/>
              </a:pPr>
              <a:r>
                <a:rPr b="0" i="0" lang="en-US" sz="1003" u="none" cap="none" strike="noStrike">
                  <a:solidFill>
                    <a:srgbClr val="16213E"/>
                  </a:solidFill>
                  <a:latin typeface="Calibri"/>
                  <a:ea typeface="Calibri"/>
                  <a:cs typeface="Calibri"/>
                  <a:sym typeface="Calibri"/>
                </a:rPr>
                <a:t>GAN-crafted evasive variants (PDF-GAN), structural evasion frameworks (SETPA), image-based / NLP-based detection and feature-engineering studies.</a:t>
              </a:r>
              <a:endParaRPr b="0" i="0" sz="10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7447968" y="5731854"/>
              <a:ext cx="4647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875" lIns="79775" spcFirstLastPara="1" rIns="79775" wrap="square" tIns="39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B8C"/>
                </a:buClr>
                <a:buSzPts val="1047"/>
                <a:buFont typeface="Calibri"/>
                <a:buNone/>
              </a:pPr>
              <a:r>
                <a:rPr b="0" i="0" lang="en-US" sz="1047" u="none" cap="none" strike="noStrike">
                  <a:solidFill>
                    <a:srgbClr val="5B6B8C"/>
                  </a:solidFill>
                  <a:latin typeface="Calibri"/>
                  <a:ea typeface="Calibri"/>
                  <a:cs typeface="Calibri"/>
                  <a:sym typeface="Calibri"/>
                </a:rPr>
                <a:t>[10][12][13]</a:t>
              </a:r>
              <a:endParaRPr b="0" i="0" sz="10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700" y="152400"/>
            <a:ext cx="49097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Re</a:t>
            </a: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search</a:t>
            </a: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 Gaps in the Literature </a:t>
            </a: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vs </a:t>
            </a: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Our </a:t>
            </a: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Contribution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48640" y="1554480"/>
            <a:ext cx="5532120" cy="4160520"/>
          </a:xfrm>
          <a:prstGeom prst="roundRect">
            <a:avLst>
              <a:gd fmla="val 263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961715" y="18206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Gaps Identified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868675" y="2423150"/>
            <a:ext cx="4937700" cy="30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6213E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Evasion testing is largely missing </a:t>
            </a:r>
            <a:endParaRPr sz="130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6213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Explainability (SHAP/LIME) is usually applied to a single best model, not compared across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6213E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Inconsistent evaluation protocols across studies </a:t>
            </a:r>
            <a:endParaRPr sz="130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6213E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Almost no direct comparison with signature-based baselines </a:t>
            </a:r>
            <a:endParaRPr sz="130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6213E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Feature-importance rankings aren't cross-validated between models </a:t>
            </a:r>
            <a:endParaRPr sz="130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6213E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Robustness/generalization claims are weakly supported and Dataset and tool inconsistency </a:t>
            </a:r>
            <a:endParaRPr sz="130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6213E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Computational cost is often ignored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263640" y="1554480"/>
            <a:ext cx="5349240" cy="4160520"/>
          </a:xfrm>
          <a:prstGeom prst="roundRect">
            <a:avLst>
              <a:gd fmla="val 2637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6714315" y="1820680"/>
            <a:ext cx="420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Our Contribution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583677" y="2808350"/>
            <a:ext cx="54864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→"/>
            </a:pPr>
            <a:r>
              <a:rPr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consistent protocol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reproducible protocol:  7 ML classifiers+one dataset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→"/>
            </a:pPr>
            <a:r>
              <a:rPr lang="en-US" sz="1100">
                <a:solidFill>
                  <a:schemeClr val="lt1"/>
                </a:solidFill>
              </a:rPr>
              <a:t>Direct ML vs. signature-based benchmarking </a:t>
            </a:r>
            <a:endParaRPr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→"/>
            </a:pPr>
            <a:r>
              <a:rPr lang="en-US" sz="1100">
                <a:solidFill>
                  <a:schemeClr val="lt1"/>
                </a:solidFill>
              </a:rPr>
              <a:t>Explicit evasion-resistance analysis 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→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Cross-model explainability comparison 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→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Feature-reduction / consistency study 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→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Computational performance benchmarking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520215" y="378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Architecture &amp; Workflow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14925"/>
            <a:ext cx="3540400" cy="591031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/>
        </p:nvSpPr>
        <p:spPr>
          <a:xfrm>
            <a:off x="4397625" y="1014925"/>
            <a:ext cx="7215300" cy="5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Step 1: Data Pre-processing module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prepares the raw dataset before model training.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Step 2: Feature Ranking identifies the most informative features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for PDF malware detection using two complementary approaches: 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random forest and signature keyword ranking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to evaluate feature importance in malignant identification.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Step 3: Optimal Feature Combination Selection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gives ranked features based on the variety of feature combinations. This analysis determines whether a smaller subset of highly informative features can achieve comparable or improved detection performance while reducing computational complexity.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Step 4: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The Detection Engine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evaluates two fundamentally different malware detection strategies: Machine Learning Classification Engine and Signature-Based Detection Model (Baseline).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Step 5: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: Both detection approaches are evaluated using 5-fold stratified cross-validation to ensure robust and unbiased performance estimation.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Step 6: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Explainability Module to improve transparency and interpretability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, explainable Artificial Intelligence (XAI) techniques are applied to the best-performing machine learning models.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Step 7: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Interpreted Detection Outcom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e produces the malware detection result by classifying each PDF as Benign or Malicious.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/>
          <p:nvPr/>
        </p:nvSpPr>
        <p:spPr>
          <a:xfrm>
            <a:off x="457190" y="292765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CIC-Evasive-PDFMal2022 Benchmark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15315" y="1760575"/>
            <a:ext cx="2331600" cy="1371600"/>
          </a:xfrm>
          <a:prstGeom prst="roundRect">
            <a:avLst>
              <a:gd fmla="val 666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460940" y="2062578"/>
            <a:ext cx="233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10,025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598050" y="3132165"/>
            <a:ext cx="205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Total PDF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2906965" y="1760575"/>
            <a:ext cx="2331600" cy="1371600"/>
          </a:xfrm>
          <a:prstGeom prst="roundRect">
            <a:avLst>
              <a:gd fmla="val 666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2975490" y="2048115"/>
            <a:ext cx="233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31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3095525" y="3124890"/>
            <a:ext cx="205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Structural &amp; Metadata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5398615" y="1703725"/>
            <a:ext cx="2331600" cy="1371600"/>
          </a:xfrm>
          <a:prstGeom prst="roundRect">
            <a:avLst>
              <a:gd fmla="val 666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5398615" y="2046615"/>
            <a:ext cx="233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80/20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5535713" y="3124190"/>
            <a:ext cx="205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Stratified Train / Test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60950" y="4018775"/>
            <a:ext cx="6801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1" i="0" lang="en-US" sz="13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Canadian Institute for Cybersecurity </a:t>
            </a:r>
            <a:br>
              <a:rPr b="0" i="0" lang="en-US" sz="13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Features include: 31 feature including</a:t>
            </a:r>
            <a:r>
              <a:rPr b="1" lang="en-US" sz="135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3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metadata size, document encryption, overall document size, page count, and 10 malicious indicators (JavaScript, OpenAction, </a:t>
            </a:r>
            <a:r>
              <a:rPr lang="en-US" sz="135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Embedded File</a:t>
            </a:r>
            <a:r>
              <a:rPr b="0" i="0" lang="en-US" sz="13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, XFA, etc.).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0275" y="1940612"/>
            <a:ext cx="4140662" cy="28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/>
        </p:nvSpPr>
        <p:spPr>
          <a:xfrm>
            <a:off x="399675" y="308850"/>
            <a:ext cx="919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CIC-Evasive-PDFMal2022 Benchmark Dataset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50" y="1298425"/>
            <a:ext cx="6577700" cy="436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2" title="Class Distrib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7000" y="1800402"/>
            <a:ext cx="4751100" cy="335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210765" y="365815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Preprocessing &amp; Feature Selection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3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</a:t>
            </a:r>
            <a:r>
              <a:rPr b="1" lang="en-US"/>
              <a:t>1.</a:t>
            </a:r>
            <a:endParaRPr b="1"/>
          </a:p>
        </p:txBody>
      </p:sp>
      <p:sp>
        <p:nvSpPr>
          <p:cNvPr id="199" name="Google Shape;199;p13"/>
          <p:cNvSpPr/>
          <p:nvPr/>
        </p:nvSpPr>
        <p:spPr>
          <a:xfrm>
            <a:off x="1234440" y="15087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Cleaning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F3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</a:t>
            </a:r>
            <a:r>
              <a:rPr b="1" lang="en-US"/>
              <a:t>2.</a:t>
            </a:r>
            <a:endParaRPr b="1"/>
          </a:p>
        </p:txBody>
      </p:sp>
      <p:sp>
        <p:nvSpPr>
          <p:cNvPr id="201" name="Google Shape;201;p13"/>
          <p:cNvSpPr/>
          <p:nvPr/>
        </p:nvSpPr>
        <p:spPr>
          <a:xfrm>
            <a:off x="1234440" y="265176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Scaling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F3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</a:t>
            </a:r>
            <a:r>
              <a:rPr b="1" lang="en-US"/>
              <a:t>3. </a:t>
            </a:r>
            <a:endParaRPr b="1"/>
          </a:p>
        </p:txBody>
      </p:sp>
      <p:sp>
        <p:nvSpPr>
          <p:cNvPr id="203" name="Google Shape;203;p13"/>
          <p:cNvSpPr/>
          <p:nvPr/>
        </p:nvSpPr>
        <p:spPr>
          <a:xfrm>
            <a:off x="1234440" y="37947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Feature Ranking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5350" y="929150"/>
            <a:ext cx="5776951" cy="507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3031533" y="1810500"/>
            <a:ext cx="438900" cy="438900"/>
          </a:xfrm>
          <a:prstGeom prst="ellipse">
            <a:avLst/>
          </a:prstGeom>
          <a:solidFill>
            <a:srgbClr val="CADCFC"/>
          </a:solidFill>
          <a:ln cap="flat" cmpd="sng" w="15875">
            <a:solidFill>
              <a:srgbClr val="132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431700" y="1442488"/>
            <a:ext cx="11328600" cy="1995000"/>
          </a:xfrm>
          <a:prstGeom prst="rect">
            <a:avLst/>
          </a:prstGeom>
          <a:solidFill>
            <a:srgbClr val="132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2660150" y="1720625"/>
            <a:ext cx="1222200" cy="975300"/>
          </a:xfrm>
          <a:prstGeom prst="roundRect">
            <a:avLst>
              <a:gd fmla="val 16667" name="adj"/>
            </a:avLst>
          </a:prstGeom>
          <a:solidFill>
            <a:srgbClr val="F3F7FE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4501762" y="1720550"/>
            <a:ext cx="1334100" cy="975300"/>
          </a:xfrm>
          <a:prstGeom prst="roundRect">
            <a:avLst>
              <a:gd fmla="val 16667" name="adj"/>
            </a:avLst>
          </a:prstGeom>
          <a:solidFill>
            <a:srgbClr val="F3F7FE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6424438" y="1720625"/>
            <a:ext cx="1222200" cy="975300"/>
          </a:xfrm>
          <a:prstGeom prst="roundRect">
            <a:avLst>
              <a:gd fmla="val 16667" name="adj"/>
            </a:avLst>
          </a:prstGeom>
          <a:solidFill>
            <a:srgbClr val="F3F7FE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8306575" y="1720625"/>
            <a:ext cx="1222200" cy="975300"/>
          </a:xfrm>
          <a:prstGeom prst="roundRect">
            <a:avLst>
              <a:gd fmla="val 16667" name="adj"/>
            </a:avLst>
          </a:prstGeom>
          <a:solidFill>
            <a:srgbClr val="F3F7FE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10188750" y="1720625"/>
            <a:ext cx="1222200" cy="975300"/>
          </a:xfrm>
          <a:prstGeom prst="roundRect">
            <a:avLst>
              <a:gd fmla="val 16667" name="adj"/>
            </a:avLst>
          </a:prstGeom>
          <a:solidFill>
            <a:srgbClr val="F3F7FE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778025" y="1720625"/>
            <a:ext cx="1222200" cy="975300"/>
          </a:xfrm>
          <a:prstGeom prst="roundRect">
            <a:avLst>
              <a:gd fmla="val 16667" name="adj"/>
            </a:avLst>
          </a:prstGeom>
          <a:solidFill>
            <a:srgbClr val="F3F7FE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548640" y="384048"/>
            <a:ext cx="1109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3F49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502915" y="393205"/>
            <a:ext cx="1109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D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Implementation Strategy: From Raw PDFs to an Interpreted Verdict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502915" y="952396"/>
            <a:ext cx="1109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A single, sequentially organized Colab pipeline in which every module reads from one shared, pre-processed dataset.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129095" y="1828800"/>
            <a:ext cx="438900" cy="438900"/>
          </a:xfrm>
          <a:prstGeom prst="ellipse">
            <a:avLst/>
          </a:prstGeom>
          <a:solidFill>
            <a:srgbClr val="CADCFC"/>
          </a:solidFill>
          <a:ln cap="flat" cmpd="sng" w="15875">
            <a:solidFill>
              <a:srgbClr val="132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1119950" y="1796849"/>
            <a:ext cx="4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9E86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132A4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6" u="none" cap="none" strike="noStrike">
              <a:solidFill>
                <a:srgbClr val="132A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462345" y="2340841"/>
            <a:ext cx="1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Dataset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502895" y="2753150"/>
            <a:ext cx="177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CIC-Evasive-PDFMal2022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10,025 PDFs · 31 features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2229612" y="1847088"/>
            <a:ext cx="20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2B8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2385073" y="2331741"/>
            <a:ext cx="1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Preprocessing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2385060" y="2743200"/>
            <a:ext cx="177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Cleaning · RobustScaler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Stratified 80/20 split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4267200" y="2331741"/>
            <a:ext cx="1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Feature Ranking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4267200" y="2743200"/>
            <a:ext cx="177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Random Forest importance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Top-10 / Top-9 sets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5993892" y="1847088"/>
            <a:ext cx="20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2B8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6149340" y="2331741"/>
            <a:ext cx="1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Model Training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6149340" y="2743200"/>
            <a:ext cx="177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 ML models +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signature baseline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7876032" y="1847088"/>
            <a:ext cx="20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2B8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8698230" y="1828800"/>
            <a:ext cx="438900" cy="4389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1E9E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8054418" y="2331741"/>
            <a:ext cx="1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Evaluation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8031480" y="2743200"/>
            <a:ext cx="177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Accuracy · Precision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Recall · F1-Score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9758172" y="1847088"/>
            <a:ext cx="20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2B8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10580370" y="1828800"/>
            <a:ext cx="438900" cy="4389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1E9E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9959470" y="2309879"/>
            <a:ext cx="1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Explainability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9913595" y="2743163"/>
            <a:ext cx="177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SHAP + LIME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cross-check</a:t>
            </a:r>
            <a:endParaRPr b="0" i="0" sz="93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14"/>
          <p:cNvCxnSpPr/>
          <p:nvPr/>
        </p:nvCxnSpPr>
        <p:spPr>
          <a:xfrm>
            <a:off x="548640" y="3983985"/>
            <a:ext cx="11091600" cy="0"/>
          </a:xfrm>
          <a:prstGeom prst="straightConnector1">
            <a:avLst/>
          </a:prstGeom>
          <a:noFill/>
          <a:ln cap="flat" cmpd="sng" w="381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4"/>
          <p:cNvSpPr/>
          <p:nvPr/>
        </p:nvSpPr>
        <p:spPr>
          <a:xfrm>
            <a:off x="548640" y="41148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WHY THIS IMPLEMENTATION?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48640" y="4526298"/>
            <a:ext cx="1042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33D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6233D"/>
                </a:solidFill>
                <a:latin typeface="Calibri"/>
                <a:ea typeface="Calibri"/>
                <a:cs typeface="Calibri"/>
                <a:sym typeface="Calibri"/>
              </a:rPr>
              <a:t>Modular design simplifies debugging and validation of each stage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6233D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6233D"/>
                </a:solidFill>
                <a:latin typeface="Calibri"/>
                <a:ea typeface="Calibri"/>
                <a:cs typeface="Calibri"/>
                <a:sym typeface="Calibri"/>
              </a:rPr>
              <a:t>All seven models are trained on the identical preprocessed dataset for a fair comparison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6233D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6233D"/>
                </a:solidFill>
                <a:latin typeface="Calibri"/>
                <a:ea typeface="Calibri"/>
                <a:cs typeface="Calibri"/>
                <a:sym typeface="Calibri"/>
              </a:rPr>
              <a:t>Reproducible workflow: fixed random seed (42) and identical train/test split across every module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548640" y="5806440"/>
            <a:ext cx="1109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32A4E"/>
                </a:solidFill>
                <a:latin typeface="Calibri"/>
                <a:ea typeface="Calibri"/>
                <a:cs typeface="Calibri"/>
                <a:sym typeface="Calibri"/>
              </a:rPr>
              <a:t>Random seed 42  ·  80/20 stratified split  ·  5-fold cross-validation  ·  K-means evasion subgroups (k = 2)</a:t>
            </a:r>
            <a:endParaRPr b="0" i="0" sz="1050" u="none" cap="none" strike="noStrike">
              <a:solidFill>
                <a:srgbClr val="132A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4"/>
          <p:cNvCxnSpPr/>
          <p:nvPr/>
        </p:nvCxnSpPr>
        <p:spPr>
          <a:xfrm>
            <a:off x="548640" y="6446520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4"/>
          <p:cNvSpPr/>
          <p:nvPr/>
        </p:nvSpPr>
        <p:spPr>
          <a:xfrm>
            <a:off x="548640" y="6528816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2B8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11000232" y="6528816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2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2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3031533" y="1840825"/>
            <a:ext cx="438900" cy="438900"/>
          </a:xfrm>
          <a:prstGeom prst="ellipse">
            <a:avLst/>
          </a:prstGeom>
          <a:solidFill>
            <a:srgbClr val="CADCFC"/>
          </a:solidFill>
          <a:ln cap="flat" cmpd="sng" w="15875">
            <a:solidFill>
              <a:srgbClr val="132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4933945" y="1840813"/>
            <a:ext cx="438900" cy="438900"/>
          </a:xfrm>
          <a:prstGeom prst="ellipse">
            <a:avLst/>
          </a:prstGeom>
          <a:solidFill>
            <a:srgbClr val="CADCFC"/>
          </a:solidFill>
          <a:ln cap="flat" cmpd="sng" w="15875">
            <a:solidFill>
              <a:srgbClr val="132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3031548" y="18104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9E86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132A4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6" u="none" cap="none" strike="noStrike">
              <a:solidFill>
                <a:srgbClr val="132A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933938" y="181050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9E86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132A4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6" u="none" cap="none" strike="noStrike">
              <a:solidFill>
                <a:srgbClr val="132A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816158" y="1840825"/>
            <a:ext cx="438900" cy="438900"/>
          </a:xfrm>
          <a:prstGeom prst="ellipse">
            <a:avLst/>
          </a:prstGeom>
          <a:solidFill>
            <a:srgbClr val="CADCFC"/>
          </a:solidFill>
          <a:ln cap="flat" cmpd="sng" w="15875">
            <a:solidFill>
              <a:srgbClr val="132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6816165" y="181050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9E86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8698295" y="1840825"/>
            <a:ext cx="438900" cy="438900"/>
          </a:xfrm>
          <a:prstGeom prst="ellipse">
            <a:avLst/>
          </a:prstGeom>
          <a:solidFill>
            <a:srgbClr val="CADCFC"/>
          </a:solidFill>
          <a:ln cap="flat" cmpd="sng" w="15875">
            <a:solidFill>
              <a:srgbClr val="132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8698230" y="182880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9E86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132A4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056" u="none" cap="none" strike="noStrike">
              <a:solidFill>
                <a:srgbClr val="132A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10580445" y="1840775"/>
            <a:ext cx="438900" cy="438900"/>
          </a:xfrm>
          <a:prstGeom prst="ellipse">
            <a:avLst/>
          </a:prstGeom>
          <a:solidFill>
            <a:srgbClr val="CADCFC"/>
          </a:solidFill>
          <a:ln cap="flat" cmpd="sng" w="15875">
            <a:solidFill>
              <a:srgbClr val="132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10580370" y="182880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9E86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132A4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56" u="none" cap="none" strike="noStrike">
              <a:solidFill>
                <a:srgbClr val="132A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Experimental Setup &amp; Configuration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548640" y="1554480"/>
            <a:ext cx="3566160" cy="4160520"/>
          </a:xfrm>
          <a:prstGeom prst="roundRect">
            <a:avLst>
              <a:gd fmla="val 307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pu_navy.png" id="268" name="Google Shape;2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5"/>
          <p:cNvSpPr/>
          <p:nvPr/>
        </p:nvSpPr>
        <p:spPr>
          <a:xfrm>
            <a:off x="1417320" y="17830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Environment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822960" y="2377440"/>
            <a:ext cx="30175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Google Colab, CPU-only</a:t>
            </a:r>
            <a:br>
              <a:rPr b="1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2 vCPU cores (x86_64), 13.61 GB RAM</a:t>
            </a:r>
            <a:b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Python 3.12.13</a:t>
            </a:r>
            <a:br>
              <a:rPr b="1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Pandas, NumPy, scikit-learn,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XGBoost, mlxtend, SHAP, LIME, matplotlib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4297680" y="1554480"/>
            <a:ext cx="3566160" cy="4160520"/>
          </a:xfrm>
          <a:prstGeom prst="roundRect">
            <a:avLst>
              <a:gd fmla="val 307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ttings_navy.png" id="272" name="Google Shape;2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5"/>
          <p:cNvSpPr/>
          <p:nvPr/>
        </p:nvSpPr>
        <p:spPr>
          <a:xfrm>
            <a:off x="5166360" y="17830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Configuration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4572000" y="2377440"/>
            <a:ext cx="31089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Random seed = 42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80/20 stratified split (identical across configs)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5-fold stratified CV for stability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K-means (k=2, 10 inits) for evasion subgroups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SHAP on 300-sample test subset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8046720" y="1554480"/>
            <a:ext cx="3566160" cy="4160520"/>
          </a:xfrm>
          <a:prstGeom prst="roundRect">
            <a:avLst>
              <a:gd fmla="val 3077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ayers_coral.png" id="276" name="Google Shape;27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104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5"/>
          <p:cNvSpPr/>
          <p:nvPr/>
        </p:nvSpPr>
        <p:spPr>
          <a:xfrm>
            <a:off x="8915400" y="17830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Models Compared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8321040" y="2377440"/>
            <a:ext cx="30175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Random Forest · XGBoost · SVM · Naive Bayes · AdaBoost · KNN · ANN (shallow MLP)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plus a rule-based Signature Baseline (10 indicator features: JS, OpenAction, EmbeddedFile, XFA...)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E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 txBox="1"/>
          <p:nvPr/>
        </p:nvSpPr>
        <p:spPr>
          <a:xfrm>
            <a:off x="189850" y="130500"/>
            <a:ext cx="1211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Implementation Strategy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6" title="Screenshot 2026-08-01 at 11.45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00" y="996675"/>
            <a:ext cx="7844650" cy="251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6"/>
          <p:cNvSpPr txBox="1"/>
          <p:nvPr/>
        </p:nvSpPr>
        <p:spPr>
          <a:xfrm>
            <a:off x="8590300" y="1375050"/>
            <a:ext cx="30000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What does this code do?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Loads the CIC-Evasive-PDFMal2022 dataset.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Removes unnecessary identifier columns.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Converts labels into machine-readable format.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Cleans inconsistent values.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89" name="Google Shape;289;p16" title="Screenshot 2026-08-01 at 11.52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7700" y="3902975"/>
            <a:ext cx="7225798" cy="243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6"/>
          <p:cNvSpPr txBox="1"/>
          <p:nvPr/>
        </p:nvSpPr>
        <p:spPr>
          <a:xfrm>
            <a:off x="688175" y="4261013"/>
            <a:ext cx="30000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Applied </a:t>
            </a:r>
            <a:r>
              <a:rPr lang="en-US" sz="1100">
                <a:solidFill>
                  <a:schemeClr val="dk1"/>
                </a:solidFill>
              </a:rPr>
              <a:t>RobustScaler</a:t>
            </a:r>
            <a:r>
              <a:rPr lang="en-US" sz="1100">
                <a:solidFill>
                  <a:schemeClr val="dk1"/>
                </a:solidFill>
              </a:rPr>
              <a:t> for feature normalization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Reduced the impact of extreme feature values (outliers)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Improved model performance and reliability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Prepared data for fair and consistent evaluation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6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7" title="Screenshot 2026-08-01 at 11.56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75" y="788150"/>
            <a:ext cx="7433277" cy="281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7" title="Screenshot 2026-08-01 at 12.01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75" y="3879875"/>
            <a:ext cx="7433277" cy="23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7"/>
          <p:cNvSpPr txBox="1"/>
          <p:nvPr/>
        </p:nvSpPr>
        <p:spPr>
          <a:xfrm>
            <a:off x="522075" y="187850"/>
            <a:ext cx="561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Feature Selection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8447925" y="2236175"/>
            <a:ext cx="3168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Random Forest calculates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which features contribute most toward malware detection.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Then Sequential Forward Selection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builds the smallest feature subset while maintaining performance.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6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/>
        </p:nvSpPr>
        <p:spPr>
          <a:xfrm>
            <a:off x="522075" y="187850"/>
            <a:ext cx="561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Feature Selection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8803900" y="2733300"/>
            <a:ext cx="3168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All Features used in 7 models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Signature-based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Evaluation Matrix Comparison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Top ranked optimal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2nd ranked optimal</a:t>
            </a:r>
            <a:endParaRPr/>
          </a:p>
        </p:txBody>
      </p:sp>
      <p:pic>
        <p:nvPicPr>
          <p:cNvPr id="307" name="Google Shape;307;p18" title="Screenshot 2026-08-01 at 12.05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75" y="788150"/>
            <a:ext cx="8143128" cy="211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8" title="Screenshot 2026-08-01 at 12.07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75" y="4127100"/>
            <a:ext cx="8143124" cy="85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8" title="Screenshot 2026-08-01 at 12.07.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075" y="3052754"/>
            <a:ext cx="8143124" cy="923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8" title="Screenshot 2026-08-01 at 12.07.5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075" y="5198950"/>
            <a:ext cx="8143124" cy="1073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6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/>
        </p:nvSpPr>
        <p:spPr>
          <a:xfrm>
            <a:off x="522075" y="187850"/>
            <a:ext cx="561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Model Explainability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617000" y="2886175"/>
            <a:ext cx="3168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SHAP identifies which PDF features have the greatest overall impact on predictions, while LIME explains why an individual PDF file is classified as malicious or benign.</a:t>
            </a:r>
            <a:endParaRPr/>
          </a:p>
        </p:txBody>
      </p:sp>
      <p:pic>
        <p:nvPicPr>
          <p:cNvPr id="318" name="Google Shape;318;p19" title="Screenshot 2026-08-01 at 12.24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525" y="1471375"/>
            <a:ext cx="7281699" cy="1877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 title="Screenshot 2026-08-01 at 12.24.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88" y="3676200"/>
            <a:ext cx="7364374" cy="187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6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/>
          <p:nvPr/>
        </p:nvSpPr>
        <p:spPr>
          <a:xfrm>
            <a:off x="522075" y="187850"/>
            <a:ext cx="561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233D"/>
                </a:solidFill>
                <a:latin typeface="Cambria"/>
                <a:ea typeface="Cambria"/>
                <a:cs typeface="Cambria"/>
                <a:sym typeface="Cambria"/>
              </a:rPr>
              <a:t>Validation &amp; Performance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795025" y="2019075"/>
            <a:ext cx="31680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Cross-validation verifies that the model performs consistently across different data splits, while execution time measures whether the detector is practical for real-world deployment.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and computational performance gives us the efficiency of our methodology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20" title="Screenshot 2026-08-01 at 12.15.1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1950" y="916800"/>
            <a:ext cx="7249525" cy="164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0" title="Screenshot 2026-08-01 at 12.16.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1950" y="2685800"/>
            <a:ext cx="7249524" cy="350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/>
          <p:nvPr/>
        </p:nvSpPr>
        <p:spPr>
          <a:xfrm>
            <a:off x="502915" y="394415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Tree Ensembles </a:t>
            </a: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Dominate (Signature-Based</a:t>
            </a: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 Trails Badly)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85065"/>
            <a:ext cx="6766500" cy="44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1"/>
          <p:cNvSpPr/>
          <p:nvPr/>
        </p:nvSpPr>
        <p:spPr>
          <a:xfrm>
            <a:off x="7498080" y="1600200"/>
            <a:ext cx="42062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XGBoost leads at 99.45% accuracy </a:t>
            </a:r>
            <a:r>
              <a:rPr b="1" lang="en-US" sz="125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99.50% </a:t>
            </a:r>
            <a:r>
              <a:rPr b="1" lang="en-US" sz="125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Random </a:t>
            </a:r>
            <a:r>
              <a:rPr b="1" lang="en-US" sz="125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Forest is</a:t>
            </a: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close behind at 99.10% </a:t>
            </a:r>
            <a:r>
              <a:rPr b="1" lang="en-US" sz="125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99.20%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16213E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1621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1621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Signature-based baseline: only 7</a:t>
            </a:r>
            <a:r>
              <a:rPr lang="en-US" sz="125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25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74</a:t>
            </a:r>
            <a: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% accuracy, ranking 7th of 8.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621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Its weakness is low precision (70.21%), not low recall (92.56%)</a:t>
            </a:r>
            <a:r>
              <a:rPr lang="en-US" sz="125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it over-flags benign PDFs using JavaScript or embedded objects.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t/>
            </a:r>
            <a:endParaRPr i="1" sz="1250">
              <a:solidFill>
                <a:srgbClr val="0B1F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Direct empirical evidence: tree-based ensembles substantially outperform signature detection, mainly via fewer false alarms.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2" title="All_feature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450"/>
            <a:ext cx="7306400" cy="51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2" title="Screenshot 2026-08-01 0036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8800" y="2678638"/>
            <a:ext cx="4428400" cy="2011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2"/>
          <p:cNvSpPr txBox="1"/>
          <p:nvPr/>
        </p:nvSpPr>
        <p:spPr>
          <a:xfrm>
            <a:off x="428825" y="487600"/>
            <a:ext cx="1089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7 Models </a:t>
            </a: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vs.</a:t>
            </a: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 1 </a:t>
            </a: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Signature-Based</a:t>
            </a:r>
            <a:r>
              <a:rPr b="1" lang="en-US" sz="30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 Baseline Performance</a:t>
            </a:r>
            <a:endParaRPr b="1" sz="3000">
              <a:solidFill>
                <a:srgbClr val="0B1F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472675" y="250900"/>
            <a:ext cx="8989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RESULTS &amp; ANALYSIS  ·  ANSWERS RQ2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RESULTS &amp; ANALYSIS  ·  ANSWERS RQ3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Performance Holds Up Even With 22 Fewer Features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694944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3"/>
          <p:cNvSpPr/>
          <p:nvPr/>
        </p:nvSpPr>
        <p:spPr>
          <a:xfrm>
            <a:off x="7737350" y="1284553"/>
            <a:ext cx="3931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&lt; 0.5% F1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for XGBoost &amp; Random Forest when cutting from </a:t>
            </a:r>
            <a:r>
              <a:rPr lang="en-US" sz="12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31 to</a:t>
            </a: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 9 features.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Discriminative information is concentrated in a small feature </a:t>
            </a:r>
            <a:r>
              <a:rPr lang="en-US" sz="120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subset—JavaScript,</a:t>
            </a: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 JS, and metadata size dominate.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Naive Bayes is the exception: F1 drops from 38.5% to ~26%, since fewer, more-correlated features violate its independence assumption.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5-fold CV confirms stability: XGBoost 99.56% ± 0.11%, RF 99.41% ± 0.07% F1.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23" title="Screenshot 2026-08-01 004236.png"/>
          <p:cNvPicPr preferRelativeResize="0"/>
          <p:nvPr/>
        </p:nvPicPr>
        <p:blipFill rotWithShape="1">
          <a:blip r:embed="rId4">
            <a:alphaModFix/>
          </a:blip>
          <a:srcRect b="0" l="0" r="0" t="2591"/>
          <a:stretch/>
        </p:blipFill>
        <p:spPr>
          <a:xfrm>
            <a:off x="7605475" y="4521700"/>
            <a:ext cx="4355649" cy="19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RESULTS &amp; ANALYSIS  ·  ANSWERS RQ2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Speed vs. Accuracy: The Deployment Trade-off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p24"/>
          <p:cNvGraphicFramePr/>
          <p:nvPr/>
        </p:nvGraphicFramePr>
        <p:xfrm>
          <a:off x="548640" y="141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{80961AD1-7D24-4839-917D-37C03910D8E3}</a:tableStyleId>
              </a:tblPr>
              <a:tblGrid>
                <a:gridCol w="1974025"/>
                <a:gridCol w="1898400"/>
                <a:gridCol w="17054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 / PDF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Signature-Based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 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 ms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b="1" sz="1200" u="none" cap="none" strike="noStrike">
                        <a:solidFill>
                          <a:srgbClr val="0B1F3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sng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 s</a:t>
                      </a:r>
                      <a:endParaRPr b="1" sz="1200" u="sng" cap="none" strike="noStrike">
                        <a:solidFill>
                          <a:srgbClr val="16213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0.055 ms</a:t>
                      </a:r>
                      <a:endParaRPr b="1" sz="1200" u="none" cap="none" strike="noStrike">
                        <a:solidFill>
                          <a:srgbClr val="16213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Naive Bayes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200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006</a:t>
                      </a: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r>
                        <a:rPr b="1" lang="en-US" sz="1200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</a:t>
                      </a:r>
                      <a:r>
                        <a:rPr b="1"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200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264</a:t>
                      </a: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r>
                        <a:rPr lang="en-US" sz="1200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</a:t>
                      </a: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AdaBoost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0.476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0.010 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2.023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0.050 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</a:t>
                      </a:r>
                      <a:endParaRPr b="1" sz="1200" u="none" cap="none" strike="noStrike">
                        <a:solidFill>
                          <a:srgbClr val="0B1F3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3.932 s</a:t>
                      </a:r>
                      <a:endParaRPr sz="1200" u="none" cap="none" strike="noStrike">
                        <a:solidFill>
                          <a:srgbClr val="16213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sng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r>
                        <a:rPr lang="en-US" sz="1200" u="sng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200" u="sng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ms</a:t>
                      </a:r>
                      <a:endParaRPr sz="1200" u="sng" cap="none" strike="noStrike">
                        <a:solidFill>
                          <a:srgbClr val="16213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 b="1" sz="1200" u="none" cap="none" strike="noStrike">
                        <a:solidFill>
                          <a:srgbClr val="0B1F3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4.214 s</a:t>
                      </a:r>
                      <a:endParaRPr sz="1200" u="none" cap="none" strike="noStrike">
                        <a:solidFill>
                          <a:srgbClr val="16213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0.573 ms</a:t>
                      </a:r>
                      <a:endParaRPr sz="1200" u="none" cap="none" strike="noStrike">
                        <a:solidFill>
                          <a:srgbClr val="16213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p24"/>
          <p:cNvSpPr/>
          <p:nvPr/>
        </p:nvSpPr>
        <p:spPr>
          <a:xfrm>
            <a:off x="6446520" y="1600200"/>
            <a:ext cx="52120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XGBoost: best of both worlds</a:t>
            </a:r>
            <a:b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1621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Trains in </a:t>
            </a:r>
            <a:r>
              <a:rPr lang="en-US" sz="125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&lt;0.3 s</a:t>
            </a:r>
            <a: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 and classifies in ~2–3 </a:t>
            </a:r>
            <a:r>
              <a:rPr lang="en-US" sz="125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µs—throughput</a:t>
            </a:r>
            <a: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 of hundreds of thousands of PDFs/second on a 2-core CPU, well past a 10,000-PDF/min scanning benchmark.</a:t>
            </a:r>
            <a:b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KNN's hidden cost: </a:t>
            </a:r>
            <a: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near-instant "training" defers all cost to inference, where it compares against all 8,018 training points per prediction.</a:t>
            </a:r>
            <a:b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6213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Signature-based is </a:t>
            </a:r>
            <a:r>
              <a:rPr i="1" lang="en-US" sz="1250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fastest—but</a:t>
            </a:r>
            <a:r>
              <a:rPr b="0" i="1" lang="en-US" sz="12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 that speed is irrelevant given its far lower precision.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RESULTS &amp; ANALYSIS  ·  ANSWERS RQ2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Tree Ensembles Barely Flinch Against Evasive Samples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7772400" y="1691640"/>
            <a:ext cx="39319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Random Forest &amp; XGBoost: </a:t>
            </a: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recall drops just 0.56 pts (100% → 99.44%) on evasive samples.</a:t>
            </a:r>
            <a:b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Signature-based: </a:t>
            </a: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drops 5.44 pts, missing ~8% of evasive PDFs.</a:t>
            </a:r>
            <a:b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Naive Bayes collapses: </a:t>
            </a:r>
            <a: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recall falls from 100% to 21.2% — misses nearly 80% of evasive malware.</a:t>
            </a:r>
            <a:b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Note: "evasive" here is K-means-derived structural variation, not adversarially crafted PDFs (see Limitations).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25" title="Typical vs Evasive Malicio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409838"/>
            <a:ext cx="6875925" cy="48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6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RESULTS &amp; ANALYSIS  ·  ANSWERS RQ3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Two Models, One Story: JavaScript &amp; Metadata Size Lead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9" name="Google Shape;389;p26"/>
          <p:cNvGraphicFramePr/>
          <p:nvPr/>
        </p:nvGraphicFramePr>
        <p:xfrm>
          <a:off x="618815" y="1367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{80961AD1-7D24-4839-917D-37C03910D8E3}</a:tableStyleId>
              </a:tblPr>
              <a:tblGrid>
                <a:gridCol w="970625"/>
                <a:gridCol w="2294200"/>
                <a:gridCol w="2294200"/>
              </a:tblGrid>
              <a:tr h="43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(SHAP)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 (SHAP)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Javascript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Javascript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metadata size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metadata size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startxref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startxref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FE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pdfsize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pdfsize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0" name="Google Shape;390;p26"/>
          <p:cNvSpPr/>
          <p:nvPr/>
        </p:nvSpPr>
        <p:spPr>
          <a:xfrm>
            <a:off x="6620124" y="4916825"/>
            <a:ext cx="5047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Ranks 1–2 (highlighted) agree exactly between models — JavaScript and metadata size are model-independent malware indicators. Disagreement only emerges on mid-tier structural features (ranks 3+).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6675175" y="1367839"/>
            <a:ext cx="4937700" cy="3116400"/>
          </a:xfrm>
          <a:prstGeom prst="roundRect">
            <a:avLst>
              <a:gd fmla="val 2609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ye_coral.png" id="392" name="Google Shape;3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6"/>
          <p:cNvSpPr/>
          <p:nvPr/>
        </p:nvSpPr>
        <p:spPr>
          <a:xfrm>
            <a:off x="7543850" y="1596443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This Confirms (RQ3)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6949500" y="2190809"/>
            <a:ext cx="44349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Performance consistency: 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stable F1 across all 3 feature configs and 5 CV folds.</a:t>
            </a:r>
            <a:b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Feature-ranking consistency: 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SHAP and LIME agree on JavaScript and metadata size as the top predictors across both best models.</a:t>
            </a:r>
            <a:b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LIME cross-check: 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JavaScript is a strongly negative (benign) signal; metadata size and XFA drive malicious-class weight — consistent with SHAP.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26" title="Screenshot 2026-08-01 005850.png"/>
          <p:cNvPicPr preferRelativeResize="0"/>
          <p:nvPr/>
        </p:nvPicPr>
        <p:blipFill rotWithShape="1">
          <a:blip r:embed="rId4">
            <a:alphaModFix/>
          </a:blip>
          <a:srcRect b="0" l="0" r="0" t="3185"/>
          <a:stretch/>
        </p:blipFill>
        <p:spPr>
          <a:xfrm>
            <a:off x="1082850" y="4092025"/>
            <a:ext cx="4630975" cy="21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7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ACADEMIC HONESTY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Limitations &amp; 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548640" y="1508760"/>
            <a:ext cx="5394960" cy="1234440"/>
          </a:xfrm>
          <a:prstGeom prst="roundRect">
            <a:avLst>
              <a:gd fmla="val 740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g_coral.png" id="406" name="Google Shape;4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7099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7"/>
          <p:cNvSpPr/>
          <p:nvPr/>
        </p:nvSpPr>
        <p:spPr>
          <a:xfrm>
            <a:off x="1188720" y="16184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Hardware &amp; Scalability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1188720" y="196596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2-core CPU-only Colab; absolute timings (esp. SVM, RF) may not generalize to production hardware.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548640" y="2926080"/>
            <a:ext cx="5394960" cy="1234440"/>
          </a:xfrm>
          <a:prstGeom prst="roundRect">
            <a:avLst>
              <a:gd fmla="val 740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g_coral.png" id="410" name="Google Shape;4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31272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7"/>
          <p:cNvSpPr/>
          <p:nvPr/>
        </p:nvSpPr>
        <p:spPr>
          <a:xfrm>
            <a:off x="1188720" y="303580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Single Dataset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1188720" y="338328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All results bounded to CIC-Evasive-PDFMal2022 — no test on newer malware families or other extraction tools.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548640" y="4343400"/>
            <a:ext cx="5394960" cy="1234440"/>
          </a:xfrm>
          <a:prstGeom prst="roundRect">
            <a:avLst>
              <a:gd fmla="val 740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g_coral.png" id="414" name="Google Shape;4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454456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7"/>
          <p:cNvSpPr/>
          <p:nvPr/>
        </p:nvSpPr>
        <p:spPr>
          <a:xfrm>
            <a:off x="1188720" y="4453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Definition of "Evasive"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1188720" y="480060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K-means-derived subgroups reflect natural variation, not adversarially crafted evasion (cf. SETPA's 58–80% detector-fooling).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6217920" y="1508760"/>
            <a:ext cx="5394960" cy="1234440"/>
          </a:xfrm>
          <a:prstGeom prst="roundRect">
            <a:avLst>
              <a:gd fmla="val 740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g_coral.png" id="418" name="Google Shape;4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088" y="17099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7"/>
          <p:cNvSpPr/>
          <p:nvPr/>
        </p:nvSpPr>
        <p:spPr>
          <a:xfrm>
            <a:off x="6858000" y="16184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SHAP Subsampling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6858000" y="196596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Computed on 300 of 2,005 test instances; mid-tier feature ranks (5–15) not validated via bootstrap.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6217920" y="2926080"/>
            <a:ext cx="5394960" cy="1234440"/>
          </a:xfrm>
          <a:prstGeom prst="roundRect">
            <a:avLst>
              <a:gd fmla="val 740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g_coral.png" id="422" name="Google Shape;4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088" y="31272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7"/>
          <p:cNvSpPr/>
          <p:nvPr/>
        </p:nvSpPr>
        <p:spPr>
          <a:xfrm>
            <a:off x="6858000" y="303580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Single Train/Test Split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6858000" y="338328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Primary metrics from one 80/20 split; 5-fold CV mitigates this for top models only.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6217920" y="4343400"/>
            <a:ext cx="5394960" cy="1234440"/>
          </a:xfrm>
          <a:prstGeom prst="roundRect">
            <a:avLst>
              <a:gd fmla="val 7407" name="adj"/>
            </a:avLst>
          </a:prstGeom>
          <a:solidFill>
            <a:srgbClr val="F3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g_coral.png" id="426" name="Google Shape;42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088" y="454456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7"/>
          <p:cNvSpPr/>
          <p:nvPr/>
        </p:nvSpPr>
        <p:spPr>
          <a:xfrm>
            <a:off x="6858000" y="4453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Baseline Simplicity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6858000" y="480060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13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13E"/>
                </a:solidFill>
                <a:latin typeface="Calibri"/>
                <a:ea typeface="Calibri"/>
                <a:cs typeface="Calibri"/>
                <a:sym typeface="Calibri"/>
              </a:rPr>
              <a:t>Signature rule uses 10 indicators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Machine Learning Approaches in PDF Malware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8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548640" y="1737360"/>
            <a:ext cx="548700" cy="548700"/>
          </a:xfrm>
          <a:prstGeom prst="ellipse">
            <a:avLst/>
          </a:prstGeom>
          <a:solidFill>
            <a:srgbClr val="13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_coral.png" id="439" name="Google Shape;43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8"/>
          <p:cNvSpPr/>
          <p:nvPr/>
        </p:nvSpPr>
        <p:spPr>
          <a:xfrm>
            <a:off x="1280160" y="1691640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RQ1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2560320" y="1664208"/>
            <a:ext cx="9144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Tree-based ensembles (RF, XGBoost, AdaBoost) dominate recent literature; SHAP/LIME are the standard explainability layer.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/>
          <p:nvPr/>
        </p:nvSpPr>
        <p:spPr>
          <a:xfrm>
            <a:off x="548640" y="2788920"/>
            <a:ext cx="548700" cy="548700"/>
          </a:xfrm>
          <a:prstGeom prst="ellipse">
            <a:avLst/>
          </a:prstGeom>
          <a:solidFill>
            <a:srgbClr val="13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end_coral.png" id="443" name="Google Shape;44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926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8"/>
          <p:cNvSpPr/>
          <p:nvPr/>
        </p:nvSpPr>
        <p:spPr>
          <a:xfrm>
            <a:off x="1280160" y="2743200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RQ2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8"/>
          <p:cNvSpPr/>
          <p:nvPr/>
        </p:nvSpPr>
        <p:spPr>
          <a:xfrm>
            <a:off x="2560320" y="2715768"/>
            <a:ext cx="9144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XGBoost &amp; Random Forest exceed 99% F1 and stay resilient under evasion, decisively outperforming the 79.74% F1 signature 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baseline—primarily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by cutting false alarms.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548640" y="3840480"/>
            <a:ext cx="548700" cy="548700"/>
          </a:xfrm>
          <a:prstGeom prst="ellipse">
            <a:avLst/>
          </a:prstGeom>
          <a:solidFill>
            <a:srgbClr val="13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arget_coral.png" id="447" name="Google Shape;44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977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8"/>
          <p:cNvSpPr/>
          <p:nvPr/>
        </p:nvSpPr>
        <p:spPr>
          <a:xfrm>
            <a:off x="1280160" y="3794760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RQ3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2560320" y="3767328"/>
            <a:ext cx="9144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Performance and feature-importance rankings (JavaScript, metadata size) stay consistent across feature-set reductions and cross-validation folds.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28"/>
          <p:cNvCxnSpPr/>
          <p:nvPr/>
        </p:nvCxnSpPr>
        <p:spPr>
          <a:xfrm>
            <a:off x="548640" y="5074920"/>
            <a:ext cx="11064240" cy="0"/>
          </a:xfrm>
          <a:prstGeom prst="straightConnector1">
            <a:avLst/>
          </a:prstGeom>
          <a:noFill/>
          <a:ln cap="flat" cmpd="sng" w="19050">
            <a:solidFill>
              <a:srgbClr val="132A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28"/>
          <p:cNvSpPr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— especially tree-based ensembles — offers a substantial, quantified, and explainable improvement over signature-based PDF malware detection, validated through a single, reproducible, evasion-aware protocol.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Thank you  ·  Questions welcome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